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D2726"/>
                </a:solidFill>
                <a:latin typeface="Aptos Mono"/>
              </a:rPr>
              <a:t>SARAH SUKIN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217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0">
                <a:solidFill>
                  <a:srgbClr val="1D2726"/>
                </a:solidFill>
                <a:latin typeface="Georgia"/>
              </a:rPr>
              <a:t>PORTFOLIO
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03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F655E"/>
                </a:solidFill>
                <a:latin typeface="Aptos"/>
              </a:rPr>
              <a:t>Product strategy × UX design
Working brand system — Draft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234440"/>
            <a:ext cx="2286000" cy="4389120"/>
          </a:xfrm>
          <a:prstGeom prst="rect">
            <a:avLst/>
          </a:prstGeom>
          <a:solidFill>
            <a:srgbClr val="D2E0E6"/>
          </a:solidFill>
          <a:ln>
            <a:solidFill>
              <a:srgbClr val="D2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0" y="1691640"/>
            <a:ext cx="1371600" cy="1371600"/>
          </a:xfrm>
          <a:prstGeom prst="roundRect">
            <a:avLst/>
          </a:prstGeom>
          <a:solidFill>
            <a:srgbClr val="BF4B28"/>
          </a:solidFill>
          <a:ln>
            <a:solidFill>
              <a:srgbClr val="BF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874519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02  /  VISION +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Accomplished without feeling distant.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92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1D2726"/>
                </a:solidFill>
                <a:latin typeface="Georgia"/>
              </a:rPr>
              <a:t>Turn complex systems into clear, trusted experiences — combining strategic thinking, user empathy, and disciplined design craft.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2726"/>
                </a:solidFill>
                <a:latin typeface="Georgia"/>
              </a:rPr>
              <a:t>Strategic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47472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Connect user needs, business goals, and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74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2726"/>
                </a:solidFill>
                <a:latin typeface="Georgia"/>
              </a:rPr>
              <a:t>Precise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7472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Make complexity legible through clear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2726"/>
                </a:solidFill>
                <a:latin typeface="Georgia"/>
              </a:rPr>
              <a:t>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3434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Design for real people, not abstract personas.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43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2726"/>
                </a:solidFill>
                <a:latin typeface="Georgia"/>
              </a:rPr>
              <a:t>Confident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34340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Lead with a point of view and support it with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2726"/>
                </a:solidFill>
                <a:latin typeface="Georgia"/>
              </a:rPr>
              <a:t>Crafted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5212079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Treat details as part of the strategy, not decoration.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2726"/>
                </a:solidFill>
                <a:latin typeface="Georgia"/>
              </a:rPr>
              <a:t>Warm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212079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Be polished and approachable rather than corporate or cold.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03  / 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Working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PRIMARY 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4023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880360"/>
            <a:ext cx="320040" cy="320040"/>
          </a:xfrm>
          <a:prstGeom prst="roundRect">
            <a:avLst/>
          </a:prstGeom>
          <a:solidFill>
            <a:srgbClr val="BF4B28"/>
          </a:solidFill>
          <a:ln>
            <a:solidFill>
              <a:srgbClr val="BF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27889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D2726"/>
                </a:solidFill>
                <a:latin typeface="Aptos Mono"/>
              </a:rPr>
              <a:t>SARAH SUKIN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317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F655E"/>
                </a:solidFill>
                <a:latin typeface="Aptos"/>
              </a:rPr>
              <a:t>Use the simple wordmark + rust dot as the working identity.
Keep generous whitespace around it; avoid decorative containers.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04  /  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Warm editorial base + restrained signal colors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246120" cy="1417320"/>
          </a:xfrm>
          <a:prstGeom prst="roundRect">
            <a:avLst/>
          </a:prstGeom>
          <a:solidFill>
            <a:srgbClr val="F7F4EF"/>
          </a:solidFill>
          <a:ln>
            <a:solidFill>
              <a:srgbClr val="F7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D2726"/>
                </a:solidFill>
                <a:latin typeface="Georgia"/>
              </a:rPr>
              <a:t>Warm Ivory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F655E"/>
                </a:solidFill>
                <a:latin typeface="Aptos Mono"/>
              </a:rPr>
              <a:t>#F7F4EF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D2726"/>
                </a:solidFill>
                <a:latin typeface="Aptos Mono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246120" cy="1417320"/>
          </a:xfrm>
          <a:prstGeom prst="roundRect">
            <a:avLst/>
          </a:prstGeom>
          <a:solidFill>
            <a:srgbClr val="1D2726"/>
          </a:solidFill>
          <a:ln>
            <a:solidFill>
              <a:srgbClr val="1D2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Deep 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#1D2726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 Mono"/>
              </a:rPr>
              <a:t>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83080"/>
            <a:ext cx="3246120" cy="1417320"/>
          </a:xfrm>
          <a:prstGeom prst="roundRect">
            <a:avLst/>
          </a:prstGeom>
          <a:solidFill>
            <a:srgbClr val="BF4B28"/>
          </a:solidFill>
          <a:ln>
            <a:solidFill>
              <a:srgbClr val="BF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965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3774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#BF4B28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743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 Mono"/>
              </a:rPr>
              <a:t>Accent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246120" cy="1417320"/>
          </a:xfrm>
          <a:prstGeom prst="roundRect">
            <a:avLst/>
          </a:prstGeom>
          <a:solidFill>
            <a:srgbClr val="D2E0E6"/>
          </a:solidFill>
          <a:ln>
            <a:solidFill>
              <a:srgbClr val="D2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114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D2726"/>
                </a:solidFill>
                <a:latin typeface="Georgia"/>
              </a:rPr>
              <a:t>Soft 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26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F655E"/>
                </a:solidFill>
                <a:latin typeface="Aptos Mono"/>
              </a:rPr>
              <a:t>#D2E0E6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892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D2726"/>
                </a:solidFill>
                <a:latin typeface="Aptos Mono"/>
              </a:rPr>
              <a:t>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31920"/>
            <a:ext cx="3246120" cy="1417320"/>
          </a:xfrm>
          <a:prstGeom prst="round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D2726"/>
                </a:solidFill>
                <a:latin typeface="Georgia"/>
              </a:rPr>
              <a:t>Blush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26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F655E"/>
                </a:solidFill>
                <a:latin typeface="Aptos Mono"/>
              </a:rPr>
              <a:t>#DAC2B8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92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D2726"/>
                </a:solidFill>
                <a:latin typeface="Aptos Mono"/>
              </a:rPr>
              <a:t>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931920"/>
            <a:ext cx="3246120" cy="1417320"/>
          </a:xfrm>
          <a:prstGeom prst="roundRect">
            <a:avLst/>
          </a:prstGeom>
          <a:solidFill>
            <a:srgbClr val="6F2F93"/>
          </a:solidFill>
          <a:ln>
            <a:solidFill>
              <a:srgbClr val="6F2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4114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Signal 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4526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#6F2F93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892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 Mono"/>
              </a:rPr>
              <a:t>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05  /  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Editorial authority, product clarity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DISPLAY / HEADLINES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2726"/>
                </a:solidFill>
                <a:latin typeface="Georgia"/>
              </a:rPr>
              <a:t>Georgia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I turn tangled systems into things people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BODY /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D2726"/>
                </a:solidFill>
                <a:latin typeface="Aptos"/>
              </a:rPr>
              <a:t>Aptos / Arial / 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F655E"/>
                </a:solidFill>
                <a:latin typeface="Aptos"/>
              </a:rPr>
              <a:t>Use a restrained sans serif for navigation, labels, metadata, buttons, and supporting copy. Keep tracking slightly open for small uppercase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06  /  VOICE + 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Smart, clear, human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Lead with the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Explain complexity plainly.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Show evidence and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Sound confident without overselling.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Use short, memorable sentences.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DON’T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Hide behind jargon.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Overstate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546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Make every line sound like marketing.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Use generic design language.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• Let polish substitute for substance.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92040"/>
            <a:ext cx="10332720" cy="822960"/>
          </a:xfrm>
          <a:prstGeom prst="roundRect">
            <a:avLst/>
          </a:prstGeom>
          <a:solidFill>
            <a:srgbClr val="1D2726"/>
          </a:solidFill>
          <a:ln>
            <a:solidFill>
              <a:srgbClr val="1D2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02352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“I turn tangled systems into things people trust.”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07  /  IMAGERY + ICONOGRAPHY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Human proof + product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p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46120" cy="2057400"/>
          </a:xfrm>
          <a:prstGeom prst="rect">
            <a:avLst/>
          </a:prstGeom>
        </p:spPr>
      </p:pic>
      <p:pic>
        <p:nvPicPr>
          <p:cNvPr id="6" name="Picture 5" descr="cro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83080"/>
            <a:ext cx="3246120" cy="2057400"/>
          </a:xfrm>
          <a:prstGeom prst="rect">
            <a:avLst/>
          </a:prstGeom>
        </p:spPr>
      </p:pic>
      <p:pic>
        <p:nvPicPr>
          <p:cNvPr id="7" name="Picture 6" descr="crop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1783080"/>
            <a:ext cx="324612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069080"/>
            <a:ext cx="3246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Portraits: natural, credible, confident — not overly posed.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069080"/>
            <a:ext cx="3246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Work: show systems, outcomes, interfaces, and evidence of craft.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4069080"/>
            <a:ext cx="3246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Layouts: editorial whitespace with strong hierarchy and quiet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08  /  UX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Make strategic thinking visible in the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D2726"/>
                </a:solidFill>
                <a:latin typeface="Georgia"/>
              </a:rPr>
              <a:t>Orient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69164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The visitor should understand role, value, and credibility within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048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048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D2726"/>
                </a:solidFill>
                <a:latin typeface="Georgia"/>
              </a:rPr>
              <a:t>Show the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04872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Case studies should reveal decisions, tradeoffs, and outcomes — not just final screens.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181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1810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D2726"/>
                </a:solidFill>
                <a:latin typeface="Georgia"/>
              </a:rPr>
              <a:t>Reduce cognitive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18104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Use hierarchy, whitespace, and progressive disclosure to make complex work easy to scan.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31335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31335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D2726"/>
                </a:solidFill>
                <a:latin typeface="Georgia"/>
              </a:rPr>
              <a:t>Build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831335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Use evidence, metrics, artifacts, and specific language wherever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445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D2726"/>
                </a:solidFill>
                <a:latin typeface="Georgia"/>
              </a:rPr>
              <a:t>Keep interaction purposeful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544568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Motion and interaction should clarify relationships or create delight, never distract from the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257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D2726"/>
                </a:solidFill>
                <a:latin typeface="Georgia"/>
              </a:rPr>
              <a:t>Make contact easy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25780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"/>
              </a:rPr>
              <a:t>The path from interest to resume, LinkedIn, or conversation should be obvious.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09  /  UI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Quiet interface, strong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PRIMARY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920240" cy="502920"/>
          </a:xfrm>
          <a:prstGeom prst="roundRect">
            <a:avLst/>
          </a:prstGeom>
          <a:solidFill>
            <a:srgbClr val="1D2726"/>
          </a:solidFill>
          <a:ln>
            <a:solidFill>
              <a:srgbClr val="1D2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View selected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SECONDARY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148840"/>
            <a:ext cx="1920240" cy="502920"/>
          </a:xfrm>
          <a:prstGeom prst="roundRect">
            <a:avLst/>
          </a:prstGeom>
          <a:solidFill>
            <a:srgbClr val="F7F4EF"/>
          </a:solidFill>
          <a:ln>
            <a:solidFill>
              <a:srgbClr val="1D2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6771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D2726"/>
                </a:solidFill>
                <a:latin typeface="Aptos"/>
              </a:rPr>
              <a:t>Get in touch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D2726"/>
                </a:solidFill>
                <a:latin typeface="Aptos"/>
              </a:rPr>
              <a:t>Work     About     Get in touch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CASE STUDY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F655E"/>
                </a:solidFill>
                <a:latin typeface="Aptos Mono"/>
              </a:rPr>
              <a:t>01  /  ENTERPRISE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F4B28"/>
                </a:solidFill>
                <a:latin typeface="Aptos Mono"/>
              </a:rPr>
              <a:t>Interaction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297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D2726"/>
                </a:solidFill>
                <a:latin typeface="Georgia"/>
              </a:rPr>
              <a:t>Use motion sparingly. Prioritize legibility, continuity, and a sense of intentional craft.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F4B28"/>
                </a:solidFill>
                <a:latin typeface="Aptos Mono"/>
              </a:rPr>
              <a:t>10  / 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D2726"/>
                </a:solidFill>
                <a:latin typeface="Georgia"/>
              </a:rPr>
              <a:t>Questions to use as the system evolves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13716"/>
          </a:xfrm>
          <a:prstGeom prst="rect">
            <a:avLst/>
          </a:prstGeom>
          <a:solidFill>
            <a:srgbClr val="DAC2B8"/>
          </a:solidFill>
          <a:ln>
            <a:solidFill>
              <a:srgbClr val="DA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D2726"/>
                </a:solidFill>
                <a:latin typeface="Georgia"/>
              </a:rPr>
              <a:t>Does the portfolio feel accomplished without becoming self-congratulatory?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4203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23744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D2726"/>
                </a:solidFill>
                <a:latin typeface="Georgia"/>
              </a:rPr>
              <a:t>Can a hiring manager understand the strategic value behind the design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5526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36976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D2726"/>
                </a:solidFill>
                <a:latin typeface="Georgia"/>
              </a:rPr>
              <a:t>Do the visuals make the work feel specific, credible, and memorable?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684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50208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D2726"/>
                </a:solidFill>
                <a:latin typeface="Georgia"/>
              </a:rPr>
              <a:t>Does every decorative choice support clarity or personality?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81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4B28"/>
                </a:solidFill>
                <a:latin typeface="Aptos Mon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663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D2726"/>
                </a:solidFill>
                <a:latin typeface="Georgia"/>
              </a:rPr>
              <a:t>Can another designer use this guide to create a consistent new page?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F655E"/>
                </a:solidFill>
                <a:latin typeface="Aptos"/>
              </a:rPr>
              <a:t>This is a working system. Revisit it as the portfolio, case studies, and target roles become clearer.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